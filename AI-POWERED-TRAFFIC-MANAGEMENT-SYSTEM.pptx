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embeddedFontLst>
    <p:embeddedFont>
      <p:font typeface="Roboto"/>
      <p:regular r:id="rId201314"/>
    </p:embeddedFont>
    <p:embeddedFont>
      <p:font typeface="Roboto Medium"/>
      <p:regular r:id="rId201315"/>
    </p:embeddedFont>
    <p:embeddedFont>
      <p:font typeface="Robot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jpeg"/><Relationship Id="rId3" Type="http://schemas.openxmlformats.org/officeDocument/2006/relationships/image" Target="../media/image-1002-2.png"/><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4-2.jpeg"/><Relationship Id="rId3" Type="http://schemas.openxmlformats.org/officeDocument/2006/relationships/image" Target="../media/image-1002-2.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18">
              <a:alpha val="9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00018">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18">
              <a:alpha val="9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00018">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80528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AI-POWERED TRAFFIC MANAGEMENT SYSTEM</a:t>
            </a:r>
            <a:endParaRPr lang="en-US" sz="3700" dirty="0"/>
          </a:p>
        </p:txBody>
      </p:sp>
      <p:sp>
        <p:nvSpPr>
          <p:cNvPr id="4" name="Text 1"/>
          <p:cNvSpPr/>
          <p:nvPr/>
        </p:nvSpPr>
        <p:spPr>
          <a:xfrm>
            <a:off x="5233360" y="3270052"/>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Smart, adaptive, data-driven urban mobility — Mini  Project presentation designed for traffic engineers and evaluators.</a:t>
            </a:r>
            <a:endParaRPr lang="en-US" sz="1450" dirty="0"/>
          </a:p>
        </p:txBody>
      </p:sp>
      <p:sp>
        <p:nvSpPr>
          <p:cNvPr id="5" name="Text 2"/>
          <p:cNvSpPr/>
          <p:nvPr/>
        </p:nvSpPr>
        <p:spPr>
          <a:xfrm>
            <a:off x="5422467" y="4207272"/>
            <a:ext cx="1815162" cy="725686"/>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MOHAMMED ZAID</a:t>
            </a:r>
            <a:endParaRPr lang="en-US" sz="1150" dirty="0"/>
          </a:p>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N KUSHAL</a:t>
            </a:r>
            <a:endParaRPr lang="en-US" sz="1150" dirty="0"/>
          </a:p>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SYED MOHAMMED RABI</a:t>
            </a:r>
            <a:endParaRPr lang="en-US" sz="1150" dirty="0"/>
          </a:p>
        </p:txBody>
      </p:sp>
      <p:sp>
        <p:nvSpPr>
          <p:cNvPr id="6" name="Text 3"/>
          <p:cNvSpPr/>
          <p:nvPr/>
        </p:nvSpPr>
        <p:spPr>
          <a:xfrm>
            <a:off x="7615642" y="4207272"/>
            <a:ext cx="3725571" cy="725686"/>
          </a:xfrm>
          <a:prstGeom prst="rect">
            <a:avLst/>
          </a:prstGeom>
          <a:noFill/>
          <a:ln/>
        </p:spPr>
        <p:txBody>
          <a:bodyPr wrap="square" lIns="0" tIns="0" rIns="0" bIns="0" rtlCol="0" anchor="t">
            <a:normAutofit/>
          </a:bodyPr>
          <a:lstStyle/>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20231COM0024</a:t>
            </a:r>
            <a:endParaRPr lang="en-US" sz="1150" dirty="0"/>
          </a:p>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20231COM0018</a:t>
            </a:r>
            <a:endParaRPr lang="en-US" sz="1150" dirty="0"/>
          </a:p>
          <a:p>
            <a:pPr algn="l" indent="0" marL="0">
              <a:lnSpc>
                <a:spcPct val="133000"/>
              </a:lnSpc>
              <a:buNone/>
            </a:pPr>
            <a:r>
              <a:rPr lang="en-US" sz="1150" b="1" dirty="0">
                <a:solidFill>
                  <a:srgbClr val="CFD0D8"/>
                </a:solidFill>
                <a:latin typeface="Roboto Bold" pitchFamily="34" charset="0"/>
                <a:ea typeface="Roboto Bold" pitchFamily="34" charset="-122"/>
                <a:cs typeface="Roboto Bold" pitchFamily="34" charset="-120"/>
              </a:rPr>
              <a:t>20231COM0081</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387104"/>
            <a:ext cx="6296860"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Introduction</a:t>
            </a:r>
            <a:endParaRPr lang="en-US" sz="3700" dirty="0"/>
          </a:p>
        </p:txBody>
      </p:sp>
      <p:sp>
        <p:nvSpPr>
          <p:cNvPr id="4" name="Text 1"/>
          <p:cNvSpPr/>
          <p:nvPr/>
        </p:nvSpPr>
        <p:spPr>
          <a:xfrm>
            <a:off x="661475" y="3261221"/>
            <a:ext cx="6296860"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Urban traffic congestion increases travel time, fuel use, and emissions. Fixed-time signals cannot adapt to rapid changes. By combining computer vision, IoT, and machine learning, an AI system monitors traffic in real time to improve flow, safety, and emergency response.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965424"/>
            <a:ext cx="5203794" cy="2927152"/>
          </a:xfrm>
          <a:prstGeom prst="rect">
            <a:avLst/>
          </a:prstGeom>
        </p:spPr>
      </p:pic>
      <p:sp>
        <p:nvSpPr>
          <p:cNvPr id="3" name="Text 0"/>
          <p:cNvSpPr/>
          <p:nvPr/>
        </p:nvSpPr>
        <p:spPr>
          <a:xfrm>
            <a:off x="6332776" y="2120305"/>
            <a:ext cx="5203794"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Roboto Medium" pitchFamily="34" charset="0"/>
                <a:ea typeface="Roboto Medium" pitchFamily="34" charset="-122"/>
                <a:cs typeface="Roboto Medium" pitchFamily="34" charset="-120"/>
              </a:rPr>
              <a:t>Problem Statement</a:t>
            </a:r>
            <a:endParaRPr lang="en-US" sz="2950" dirty="0"/>
          </a:p>
        </p:txBody>
      </p:sp>
      <p:sp>
        <p:nvSpPr>
          <p:cNvPr id="4" name="Text 1"/>
          <p:cNvSpPr/>
          <p:nvPr/>
        </p:nvSpPr>
        <p:spPr>
          <a:xfrm>
            <a:off x="6332776" y="2781796"/>
            <a:ext cx="5203794" cy="2078831"/>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Traffic density varies across hours and locations.</a:t>
            </a:r>
            <a:endParaRPr lang="en-US" sz="1450" dirty="0"/>
          </a:p>
          <a:p>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Fixed timings produce avoidable queues and delays.</a:t>
            </a:r>
            <a:endParaRPr lang="en-US" sz="1450" dirty="0"/>
          </a:p>
          <a:p>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Accidents and obstructions cause sudden disruptions.</a:t>
            </a:r>
            <a:endParaRPr lang="en-US" sz="1450" dirty="0"/>
          </a:p>
          <a:p>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Manual monitoring is slow and not scalable.</a:t>
            </a:r>
            <a:endParaRPr lang="en-US" sz="1450" dirty="0"/>
          </a:p>
          <a:p>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Need: an intelligent real-time system for responsive control.</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294705"/>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Objectives</a:t>
            </a:r>
            <a:endParaRPr lang="en-US" sz="3700" dirty="0"/>
          </a:p>
        </p:txBody>
      </p:sp>
      <p:sp>
        <p:nvSpPr>
          <p:cNvPr id="3" name="Shape 1"/>
          <p:cNvSpPr/>
          <p:nvPr/>
        </p:nvSpPr>
        <p:spPr>
          <a:xfrm>
            <a:off x="661475" y="2263378"/>
            <a:ext cx="2575357" cy="1706662"/>
          </a:xfrm>
          <a:prstGeom prst="roundRect">
            <a:avLst>
              <a:gd name="adj" fmla="val 4652"/>
            </a:avLst>
          </a:prstGeom>
          <a:solidFill>
            <a:srgbClr val="182567"/>
          </a:solidFill>
          <a:ln w="6350">
            <a:solidFill>
              <a:srgbClr val="313E80"/>
            </a:solidFill>
            <a:prstDash val="solid"/>
          </a:ln>
        </p:spPr>
      </p:sp>
      <p:sp>
        <p:nvSpPr>
          <p:cNvPr id="4" name="Text 2"/>
          <p:cNvSpPr/>
          <p:nvPr/>
        </p:nvSpPr>
        <p:spPr>
          <a:xfrm>
            <a:off x="856832" y="2458740"/>
            <a:ext cx="2184643"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Detection</a:t>
            </a:r>
            <a:endParaRPr lang="en-US" sz="1850" dirty="0"/>
          </a:p>
        </p:txBody>
      </p:sp>
      <p:sp>
        <p:nvSpPr>
          <p:cNvPr id="5" name="Text 3"/>
          <p:cNvSpPr/>
          <p:nvPr/>
        </p:nvSpPr>
        <p:spPr>
          <a:xfrm>
            <a:off x="856832" y="2867422"/>
            <a:ext cx="218464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Automatically detect and count vehicles and road users.</a:t>
            </a:r>
            <a:endParaRPr lang="en-US" sz="1450" dirty="0"/>
          </a:p>
        </p:txBody>
      </p:sp>
      <p:sp>
        <p:nvSpPr>
          <p:cNvPr id="6" name="Shape 4"/>
          <p:cNvSpPr/>
          <p:nvPr/>
        </p:nvSpPr>
        <p:spPr>
          <a:xfrm>
            <a:off x="3425839" y="2263378"/>
            <a:ext cx="2575456" cy="1706662"/>
          </a:xfrm>
          <a:prstGeom prst="roundRect">
            <a:avLst>
              <a:gd name="adj" fmla="val 4652"/>
            </a:avLst>
          </a:prstGeom>
          <a:solidFill>
            <a:srgbClr val="182567"/>
          </a:solidFill>
          <a:ln w="6350">
            <a:solidFill>
              <a:srgbClr val="313E80"/>
            </a:solidFill>
            <a:prstDash val="solid"/>
          </a:ln>
        </p:spPr>
      </p:sp>
      <p:sp>
        <p:nvSpPr>
          <p:cNvPr id="7" name="Text 5"/>
          <p:cNvSpPr/>
          <p:nvPr/>
        </p:nvSpPr>
        <p:spPr>
          <a:xfrm>
            <a:off x="3621195" y="2458740"/>
            <a:ext cx="2184742"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Estimation</a:t>
            </a:r>
            <a:endParaRPr lang="en-US" sz="1850" dirty="0"/>
          </a:p>
        </p:txBody>
      </p:sp>
      <p:sp>
        <p:nvSpPr>
          <p:cNvPr id="8" name="Text 6"/>
          <p:cNvSpPr/>
          <p:nvPr/>
        </p:nvSpPr>
        <p:spPr>
          <a:xfrm>
            <a:off x="3621195" y="2867422"/>
            <a:ext cx="2184742"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Estimate density, queue lengths, and congestion levels.</a:t>
            </a:r>
            <a:endParaRPr lang="en-US" sz="1450" dirty="0"/>
          </a:p>
        </p:txBody>
      </p:sp>
      <p:sp>
        <p:nvSpPr>
          <p:cNvPr id="9" name="Shape 7"/>
          <p:cNvSpPr/>
          <p:nvPr/>
        </p:nvSpPr>
        <p:spPr>
          <a:xfrm>
            <a:off x="6190301" y="2263378"/>
            <a:ext cx="2575456" cy="1706662"/>
          </a:xfrm>
          <a:prstGeom prst="roundRect">
            <a:avLst>
              <a:gd name="adj" fmla="val 4652"/>
            </a:avLst>
          </a:prstGeom>
          <a:solidFill>
            <a:srgbClr val="182567"/>
          </a:solidFill>
          <a:ln w="6350">
            <a:solidFill>
              <a:srgbClr val="313E80"/>
            </a:solidFill>
            <a:prstDash val="solid"/>
          </a:ln>
        </p:spPr>
      </p:sp>
      <p:sp>
        <p:nvSpPr>
          <p:cNvPr id="10" name="Text 8"/>
          <p:cNvSpPr/>
          <p:nvPr/>
        </p:nvSpPr>
        <p:spPr>
          <a:xfrm>
            <a:off x="6385658" y="2458740"/>
            <a:ext cx="2184742"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Optimization</a:t>
            </a:r>
            <a:endParaRPr lang="en-US" sz="1850" dirty="0"/>
          </a:p>
        </p:txBody>
      </p:sp>
      <p:sp>
        <p:nvSpPr>
          <p:cNvPr id="11" name="Text 9"/>
          <p:cNvSpPr/>
          <p:nvPr/>
        </p:nvSpPr>
        <p:spPr>
          <a:xfrm>
            <a:off x="6385658" y="2867422"/>
            <a:ext cx="2184742"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Dynamically optimize signal timings using AI policies.</a:t>
            </a:r>
            <a:endParaRPr lang="en-US" sz="1450" dirty="0"/>
          </a:p>
        </p:txBody>
      </p:sp>
      <p:sp>
        <p:nvSpPr>
          <p:cNvPr id="12" name="Shape 10"/>
          <p:cNvSpPr/>
          <p:nvPr/>
        </p:nvSpPr>
        <p:spPr>
          <a:xfrm>
            <a:off x="8954764" y="2263378"/>
            <a:ext cx="2575456" cy="1706662"/>
          </a:xfrm>
          <a:prstGeom prst="roundRect">
            <a:avLst>
              <a:gd name="adj" fmla="val 4652"/>
            </a:avLst>
          </a:prstGeom>
          <a:solidFill>
            <a:srgbClr val="182567"/>
          </a:solidFill>
          <a:ln w="6350">
            <a:solidFill>
              <a:srgbClr val="313E80"/>
            </a:solidFill>
            <a:prstDash val="solid"/>
          </a:ln>
        </p:spPr>
      </p:sp>
      <p:sp>
        <p:nvSpPr>
          <p:cNvPr id="13" name="Text 11"/>
          <p:cNvSpPr/>
          <p:nvPr/>
        </p:nvSpPr>
        <p:spPr>
          <a:xfrm>
            <a:off x="9150121" y="2458740"/>
            <a:ext cx="2184742"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Safety &amp; Priority</a:t>
            </a:r>
            <a:endParaRPr lang="en-US" sz="1850" dirty="0"/>
          </a:p>
        </p:txBody>
      </p:sp>
      <p:sp>
        <p:nvSpPr>
          <p:cNvPr id="14" name="Text 12"/>
          <p:cNvSpPr/>
          <p:nvPr/>
        </p:nvSpPr>
        <p:spPr>
          <a:xfrm>
            <a:off x="9150121" y="2867422"/>
            <a:ext cx="2184742"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Detect incidents and prioritize emergency vehicles.</a:t>
            </a:r>
            <a:endParaRPr lang="en-US" sz="1450" dirty="0"/>
          </a:p>
        </p:txBody>
      </p:sp>
      <p:sp>
        <p:nvSpPr>
          <p:cNvPr id="15" name="Shape 13"/>
          <p:cNvSpPr/>
          <p:nvPr/>
        </p:nvSpPr>
        <p:spPr>
          <a:xfrm>
            <a:off x="661475" y="4159052"/>
            <a:ext cx="5339820" cy="1404243"/>
          </a:xfrm>
          <a:prstGeom prst="roundRect">
            <a:avLst>
              <a:gd name="adj" fmla="val 5653"/>
            </a:avLst>
          </a:prstGeom>
          <a:solidFill>
            <a:srgbClr val="182567"/>
          </a:solidFill>
          <a:ln w="6350">
            <a:solidFill>
              <a:srgbClr val="313E80"/>
            </a:solidFill>
            <a:prstDash val="solid"/>
          </a:ln>
        </p:spPr>
      </p:sp>
      <p:sp>
        <p:nvSpPr>
          <p:cNvPr id="16" name="Text 14"/>
          <p:cNvSpPr/>
          <p:nvPr/>
        </p:nvSpPr>
        <p:spPr>
          <a:xfrm>
            <a:off x="856832" y="4354413"/>
            <a:ext cx="4949106"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Prediction</a:t>
            </a:r>
            <a:endParaRPr lang="en-US" sz="1850" dirty="0"/>
          </a:p>
        </p:txBody>
      </p:sp>
      <p:sp>
        <p:nvSpPr>
          <p:cNvPr id="17" name="Text 15"/>
          <p:cNvSpPr/>
          <p:nvPr/>
        </p:nvSpPr>
        <p:spPr>
          <a:xfrm>
            <a:off x="856832" y="4763095"/>
            <a:ext cx="4949106" cy="302419"/>
          </a:xfrm>
          <a:prstGeom prst="rect">
            <a:avLst/>
          </a:prstGeom>
          <a:noFill/>
          <a:ln/>
        </p:spPr>
        <p:txBody>
          <a:bodyPr wrap="none" lIns="0" tIns="0" rIns="0" bIns="0" rtlCol="0" anchor="t"/>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Short-term traffic forecasting for proactive control.</a:t>
            </a:r>
            <a:endParaRPr lang="en-US" sz="1450" dirty="0"/>
          </a:p>
        </p:txBody>
      </p:sp>
      <p:sp>
        <p:nvSpPr>
          <p:cNvPr id="18" name="Shape 16"/>
          <p:cNvSpPr/>
          <p:nvPr/>
        </p:nvSpPr>
        <p:spPr>
          <a:xfrm>
            <a:off x="6190301" y="4159052"/>
            <a:ext cx="5339919" cy="1404243"/>
          </a:xfrm>
          <a:prstGeom prst="roundRect">
            <a:avLst>
              <a:gd name="adj" fmla="val 5653"/>
            </a:avLst>
          </a:prstGeom>
          <a:solidFill>
            <a:srgbClr val="182567"/>
          </a:solidFill>
          <a:ln w="6350">
            <a:solidFill>
              <a:srgbClr val="313E80"/>
            </a:solidFill>
            <a:prstDash val="solid"/>
          </a:ln>
        </p:spPr>
      </p:sp>
      <p:sp>
        <p:nvSpPr>
          <p:cNvPr id="19" name="Text 17"/>
          <p:cNvSpPr/>
          <p:nvPr/>
        </p:nvSpPr>
        <p:spPr>
          <a:xfrm>
            <a:off x="6385658" y="4354413"/>
            <a:ext cx="4949205"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Operations</a:t>
            </a:r>
            <a:endParaRPr lang="en-US" sz="1850" dirty="0"/>
          </a:p>
        </p:txBody>
      </p:sp>
      <p:sp>
        <p:nvSpPr>
          <p:cNvPr id="20" name="Text 18"/>
          <p:cNvSpPr/>
          <p:nvPr/>
        </p:nvSpPr>
        <p:spPr>
          <a:xfrm>
            <a:off x="6385658" y="4763095"/>
            <a:ext cx="49492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Provide a real-time dashboard and historical analytics for authorities.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35895"/>
            <a:ext cx="6296860"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System Architecture</a:t>
            </a:r>
            <a:endParaRPr lang="en-US" sz="3700" dirty="0"/>
          </a:p>
        </p:txBody>
      </p:sp>
      <p:sp>
        <p:nvSpPr>
          <p:cNvPr id="4" name="Text 1"/>
          <p:cNvSpPr/>
          <p:nvPr/>
        </p:nvSpPr>
        <p:spPr>
          <a:xfrm>
            <a:off x="5233360" y="3110012"/>
            <a:ext cx="6296860"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Flow: Data Collection → AI Processing (edge &amp; cloud) → Decision Engine → Traffic Control &amp; Dashboard. Cameras and IoT sensors capture video and telemetry; edge modules run fast inference; centralized engine evaluates policies and issues control commands. Dashboard provides operators situational awareness and alerts.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2124770"/>
            <a:ext cx="4637269" cy="2608461"/>
          </a:xfrm>
          <a:prstGeom prst="rect">
            <a:avLst/>
          </a:prstGeom>
        </p:spPr>
      </p:pic>
      <p:sp>
        <p:nvSpPr>
          <p:cNvPr id="3" name="Text 0"/>
          <p:cNvSpPr/>
          <p:nvPr/>
        </p:nvSpPr>
        <p:spPr>
          <a:xfrm>
            <a:off x="5766251" y="1279227"/>
            <a:ext cx="5770220" cy="944959"/>
          </a:xfrm>
          <a:prstGeom prst="rect">
            <a:avLst/>
          </a:prstGeom>
          <a:noFill/>
          <a:ln/>
        </p:spPr>
        <p:txBody>
          <a:bodyPr wrap="square" lIns="0" tIns="0" rIns="0" bIns="0" rtlCol="0" anchor="t">
            <a:normAutofit/>
          </a:bodyPr>
          <a:lstStyle/>
          <a:p>
            <a:pPr algn="l" indent="0" marL="0">
              <a:lnSpc>
                <a:spcPct val="104000"/>
              </a:lnSpc>
              <a:buNone/>
            </a:pPr>
            <a:r>
              <a:rPr lang="en-US" sz="2950" dirty="0">
                <a:solidFill>
                  <a:srgbClr val="FFFFFF"/>
                </a:solidFill>
                <a:latin typeface="Roboto Medium" pitchFamily="34" charset="0"/>
                <a:ea typeface="Roboto Medium" pitchFamily="34" charset="-122"/>
                <a:cs typeface="Roboto Medium" pitchFamily="34" charset="-120"/>
              </a:rPr>
              <a:t>AI &amp; Machine Learning Technologies</a:t>
            </a:r>
            <a:endParaRPr lang="en-US" sz="2950" dirty="0"/>
          </a:p>
        </p:txBody>
      </p:sp>
      <p:sp>
        <p:nvSpPr>
          <p:cNvPr id="4" name="Text 1"/>
          <p:cNvSpPr/>
          <p:nvPr/>
        </p:nvSpPr>
        <p:spPr>
          <a:xfrm>
            <a:off x="5766251" y="2413198"/>
            <a:ext cx="5770220" cy="3288506"/>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Computer Vision</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real-time detection, tracking, and re-identification.</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YOLO / CNN</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lightweight detection models for vehicles, pedestrians, cyclists.</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Time-series ML</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short-term traffic forecasting (LSTM / Transformer variants).</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Reinforcement Learning</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adaptive signal control optimizing delay and throughput.</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Edge AI</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low-latency inference near intersections to reduce bandwidth and response time.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38398"/>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Key Features</a:t>
            </a:r>
            <a:endParaRPr lang="en-US" sz="3700" dirty="0"/>
          </a:p>
        </p:txBody>
      </p:sp>
      <p:pic>
        <p:nvPicPr>
          <p:cNvPr id="3" name="Image 0" descr="preencoded.png">    </p:cNvPr>
          <p:cNvPicPr>
            <a:picLocks noChangeAspect="1"/>
          </p:cNvPicPr>
          <p:nvPr/>
        </p:nvPicPr>
        <p:blipFill>
          <a:blip r:embed="rId1"/>
          <a:stretch>
            <a:fillRect/>
          </a:stretch>
        </p:blipFill>
        <p:spPr>
          <a:xfrm>
            <a:off x="661475" y="1807071"/>
            <a:ext cx="558786" cy="558800"/>
          </a:xfrm>
          <a:prstGeom prst="rect">
            <a:avLst/>
          </a:prstGeom>
        </p:spPr>
      </p:pic>
      <p:sp>
        <p:nvSpPr>
          <p:cNvPr id="4" name="Text 1"/>
          <p:cNvSpPr/>
          <p:nvPr/>
        </p:nvSpPr>
        <p:spPr>
          <a:xfrm>
            <a:off x="1456495" y="1807071"/>
            <a:ext cx="1744917"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Real-time Detection</a:t>
            </a:r>
            <a:endParaRPr lang="en-US" sz="1850" dirty="0"/>
          </a:p>
        </p:txBody>
      </p:sp>
      <p:sp>
        <p:nvSpPr>
          <p:cNvPr id="5" name="Text 2"/>
          <p:cNvSpPr/>
          <p:nvPr/>
        </p:nvSpPr>
        <p:spPr>
          <a:xfrm>
            <a:off x="1456495" y="2511028"/>
            <a:ext cx="174491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Accurate vehicle, pedestrian, and bicycle detection and counting at intersections.</a:t>
            </a:r>
            <a:endParaRPr lang="en-US" sz="1450" dirty="0"/>
          </a:p>
        </p:txBody>
      </p:sp>
      <p:pic>
        <p:nvPicPr>
          <p:cNvPr id="6" name="Image 1" descr="preencoded.png">    </p:cNvPr>
          <p:cNvPicPr>
            <a:picLocks noChangeAspect="1"/>
          </p:cNvPicPr>
          <p:nvPr/>
        </p:nvPicPr>
        <p:blipFill>
          <a:blip r:embed="rId2"/>
          <a:stretch>
            <a:fillRect/>
          </a:stretch>
        </p:blipFill>
        <p:spPr>
          <a:xfrm>
            <a:off x="3437645" y="1807071"/>
            <a:ext cx="558786" cy="558800"/>
          </a:xfrm>
          <a:prstGeom prst="rect">
            <a:avLst/>
          </a:prstGeom>
        </p:spPr>
      </p:pic>
      <p:sp>
        <p:nvSpPr>
          <p:cNvPr id="7" name="Text 3"/>
          <p:cNvSpPr/>
          <p:nvPr/>
        </p:nvSpPr>
        <p:spPr>
          <a:xfrm>
            <a:off x="4232665" y="1807071"/>
            <a:ext cx="1745016"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Adaptive Control</a:t>
            </a:r>
            <a:endParaRPr lang="en-US" sz="1850" dirty="0"/>
          </a:p>
        </p:txBody>
      </p:sp>
      <p:sp>
        <p:nvSpPr>
          <p:cNvPr id="8" name="Text 4"/>
          <p:cNvSpPr/>
          <p:nvPr/>
        </p:nvSpPr>
        <p:spPr>
          <a:xfrm>
            <a:off x="4232665" y="2511028"/>
            <a:ext cx="1745016"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Signal timing optimized per-cycle to minimize delay and queue length.</a:t>
            </a:r>
            <a:endParaRPr lang="en-US" sz="1450" dirty="0"/>
          </a:p>
        </p:txBody>
      </p:sp>
      <p:pic>
        <p:nvPicPr>
          <p:cNvPr id="9" name="Image 2" descr="preencoded.png">    </p:cNvPr>
          <p:cNvPicPr>
            <a:picLocks noChangeAspect="1"/>
          </p:cNvPicPr>
          <p:nvPr/>
        </p:nvPicPr>
        <p:blipFill>
          <a:blip r:embed="rId3"/>
          <a:stretch>
            <a:fillRect/>
          </a:stretch>
        </p:blipFill>
        <p:spPr>
          <a:xfrm>
            <a:off x="6213915" y="1807071"/>
            <a:ext cx="558786" cy="558800"/>
          </a:xfrm>
          <a:prstGeom prst="rect">
            <a:avLst/>
          </a:prstGeom>
        </p:spPr>
      </p:pic>
      <p:sp>
        <p:nvSpPr>
          <p:cNvPr id="10" name="Text 5"/>
          <p:cNvSpPr/>
          <p:nvPr/>
        </p:nvSpPr>
        <p:spPr>
          <a:xfrm>
            <a:off x="7008935" y="1807071"/>
            <a:ext cx="1745016"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Incident Alerts</a:t>
            </a:r>
            <a:endParaRPr lang="en-US" sz="1850" dirty="0"/>
          </a:p>
        </p:txBody>
      </p:sp>
      <p:sp>
        <p:nvSpPr>
          <p:cNvPr id="11" name="Text 6"/>
          <p:cNvSpPr/>
          <p:nvPr/>
        </p:nvSpPr>
        <p:spPr>
          <a:xfrm>
            <a:off x="7008935" y="2215753"/>
            <a:ext cx="1745016"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Automatic detection of accidents and obstructions with operator notifications.</a:t>
            </a:r>
            <a:endParaRPr lang="en-US" sz="1450" dirty="0"/>
          </a:p>
        </p:txBody>
      </p:sp>
      <p:pic>
        <p:nvPicPr>
          <p:cNvPr id="12" name="Image 3" descr="preencoded.png">    </p:cNvPr>
          <p:cNvPicPr>
            <a:picLocks noChangeAspect="1"/>
          </p:cNvPicPr>
          <p:nvPr/>
        </p:nvPicPr>
        <p:blipFill>
          <a:blip r:embed="rId4"/>
          <a:stretch>
            <a:fillRect/>
          </a:stretch>
        </p:blipFill>
        <p:spPr>
          <a:xfrm>
            <a:off x="8990184" y="1807071"/>
            <a:ext cx="558786" cy="558800"/>
          </a:xfrm>
          <a:prstGeom prst="rect">
            <a:avLst/>
          </a:prstGeom>
        </p:spPr>
      </p:pic>
      <p:sp>
        <p:nvSpPr>
          <p:cNvPr id="13" name="Text 7"/>
          <p:cNvSpPr/>
          <p:nvPr/>
        </p:nvSpPr>
        <p:spPr>
          <a:xfrm>
            <a:off x="9785204" y="1807071"/>
            <a:ext cx="1745016"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Emergency Priority</a:t>
            </a:r>
            <a:endParaRPr lang="en-US" sz="1850" dirty="0"/>
          </a:p>
        </p:txBody>
      </p:sp>
      <p:sp>
        <p:nvSpPr>
          <p:cNvPr id="14" name="Text 8"/>
          <p:cNvSpPr/>
          <p:nvPr/>
        </p:nvSpPr>
        <p:spPr>
          <a:xfrm>
            <a:off x="9785204" y="2511028"/>
            <a:ext cx="1745016"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Preemption and prioritized green phases for emergency vehicles.</a:t>
            </a:r>
            <a:endParaRPr lang="en-US" sz="1450" dirty="0"/>
          </a:p>
        </p:txBody>
      </p:sp>
      <p:pic>
        <p:nvPicPr>
          <p:cNvPr id="15" name="Image 4" descr="preencoded.png">    </p:cNvPr>
          <p:cNvPicPr>
            <a:picLocks noChangeAspect="1"/>
          </p:cNvPicPr>
          <p:nvPr/>
        </p:nvPicPr>
        <p:blipFill>
          <a:blip r:embed="rId5"/>
          <a:stretch>
            <a:fillRect/>
          </a:stretch>
        </p:blipFill>
        <p:spPr>
          <a:xfrm>
            <a:off x="661475" y="4401145"/>
            <a:ext cx="558786" cy="558800"/>
          </a:xfrm>
          <a:prstGeom prst="rect">
            <a:avLst/>
          </a:prstGeom>
        </p:spPr>
      </p:pic>
      <p:sp>
        <p:nvSpPr>
          <p:cNvPr id="16" name="Text 9"/>
          <p:cNvSpPr/>
          <p:nvPr/>
        </p:nvSpPr>
        <p:spPr>
          <a:xfrm>
            <a:off x="1456495" y="4401145"/>
            <a:ext cx="1744917"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Prediction</a:t>
            </a:r>
            <a:endParaRPr lang="en-US" sz="1850" dirty="0"/>
          </a:p>
        </p:txBody>
      </p:sp>
      <p:sp>
        <p:nvSpPr>
          <p:cNvPr id="17" name="Text 10"/>
          <p:cNvSpPr/>
          <p:nvPr/>
        </p:nvSpPr>
        <p:spPr>
          <a:xfrm>
            <a:off x="1456495" y="4809827"/>
            <a:ext cx="174491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Short-term forecasts to enable proactive phasing and corridor coordination.</a:t>
            </a:r>
            <a:endParaRPr lang="en-US" sz="1450" dirty="0"/>
          </a:p>
        </p:txBody>
      </p:sp>
      <p:pic>
        <p:nvPicPr>
          <p:cNvPr id="18" name="Image 5" descr="preencoded.png">    </p:cNvPr>
          <p:cNvPicPr>
            <a:picLocks noChangeAspect="1"/>
          </p:cNvPicPr>
          <p:nvPr/>
        </p:nvPicPr>
        <p:blipFill>
          <a:blip r:embed="rId6"/>
          <a:stretch>
            <a:fillRect/>
          </a:stretch>
        </p:blipFill>
        <p:spPr>
          <a:xfrm>
            <a:off x="3437645" y="4401145"/>
            <a:ext cx="558786" cy="558800"/>
          </a:xfrm>
          <a:prstGeom prst="rect">
            <a:avLst/>
          </a:prstGeom>
        </p:spPr>
      </p:pic>
      <p:sp>
        <p:nvSpPr>
          <p:cNvPr id="19" name="Text 11"/>
          <p:cNvSpPr/>
          <p:nvPr/>
        </p:nvSpPr>
        <p:spPr>
          <a:xfrm>
            <a:off x="4232665" y="4401145"/>
            <a:ext cx="1745016"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Analytics</a:t>
            </a:r>
            <a:endParaRPr lang="en-US" sz="1850" dirty="0"/>
          </a:p>
        </p:txBody>
      </p:sp>
      <p:sp>
        <p:nvSpPr>
          <p:cNvPr id="20" name="Text 12"/>
          <p:cNvSpPr/>
          <p:nvPr/>
        </p:nvSpPr>
        <p:spPr>
          <a:xfrm>
            <a:off x="4232665" y="4809827"/>
            <a:ext cx="1745016"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Historical reporting for performance evaluation and strategic planning.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33896"/>
            <a:ext cx="10868745" cy="561181"/>
          </a:xfrm>
          <a:prstGeom prst="rect">
            <a:avLst/>
          </a:prstGeom>
          <a:noFill/>
          <a:ln/>
        </p:spPr>
        <p:txBody>
          <a:bodyPr wrap="none" lIns="0" tIns="0" rIns="0" bIns="0" rtlCol="0" anchor="t"/>
          <a:lstStyle/>
          <a:p>
            <a:pPr algn="l" indent="0" marL="0">
              <a:lnSpc>
                <a:spcPct val="104000"/>
              </a:lnSpc>
              <a:buNone/>
            </a:pPr>
            <a:r>
              <a:rPr lang="en-US" sz="3500" dirty="0">
                <a:solidFill>
                  <a:srgbClr val="FFFFFF"/>
                </a:solidFill>
                <a:latin typeface="Roboto Medium" pitchFamily="34" charset="0"/>
                <a:ea typeface="Roboto Medium" pitchFamily="34" charset="-122"/>
                <a:cs typeface="Roboto Medium" pitchFamily="34" charset="-120"/>
              </a:rPr>
              <a:t>System Workflow</a:t>
            </a:r>
            <a:endParaRPr lang="en-US" sz="3500" dirty="0"/>
          </a:p>
        </p:txBody>
      </p:sp>
      <p:pic>
        <p:nvPicPr>
          <p:cNvPr id="3" name="Image 0" descr="preencoded.png">    </p:cNvPr>
          <p:cNvPicPr>
            <a:picLocks noChangeAspect="1"/>
          </p:cNvPicPr>
          <p:nvPr/>
        </p:nvPicPr>
        <p:blipFill>
          <a:blip r:embed="rId1"/>
          <a:stretch>
            <a:fillRect/>
          </a:stretch>
        </p:blipFill>
        <p:spPr>
          <a:xfrm>
            <a:off x="975693" y="1436191"/>
            <a:ext cx="10240210" cy="4415929"/>
          </a:xfrm>
          <a:prstGeom prst="rect">
            <a:avLst/>
          </a:prstGeom>
        </p:spPr>
      </p:pic>
      <p:sp>
        <p:nvSpPr>
          <p:cNvPr id="4" name="Text 1"/>
          <p:cNvSpPr/>
          <p:nvPr/>
        </p:nvSpPr>
        <p:spPr>
          <a:xfrm>
            <a:off x="1664749" y="5014695"/>
            <a:ext cx="2323161" cy="290402"/>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Roboto Medium" pitchFamily="34" charset="0"/>
                <a:ea typeface="Roboto Medium" pitchFamily="34" charset="-122"/>
                <a:cs typeface="Roboto Medium" pitchFamily="34" charset="-120"/>
              </a:rPr>
              <a:t>Forecast &amp; Act</a:t>
            </a:r>
            <a:endParaRPr lang="en-US" sz="1800" dirty="0"/>
          </a:p>
        </p:txBody>
      </p:sp>
      <p:sp>
        <p:nvSpPr>
          <p:cNvPr id="5" name="Text 2"/>
          <p:cNvSpPr/>
          <p:nvPr/>
        </p:nvSpPr>
        <p:spPr>
          <a:xfrm>
            <a:off x="1664749" y="3992479"/>
            <a:ext cx="2323161" cy="290402"/>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Roboto Medium" pitchFamily="34" charset="0"/>
                <a:ea typeface="Roboto Medium" pitchFamily="34" charset="-122"/>
                <a:cs typeface="Roboto Medium" pitchFamily="34" charset="-120"/>
              </a:rPr>
              <a:t>Aggregate Metrics</a:t>
            </a:r>
            <a:endParaRPr lang="en-US" sz="1800" dirty="0"/>
          </a:p>
        </p:txBody>
      </p:sp>
      <p:sp>
        <p:nvSpPr>
          <p:cNvPr id="6" name="Text 3"/>
          <p:cNvSpPr/>
          <p:nvPr/>
        </p:nvSpPr>
        <p:spPr>
          <a:xfrm>
            <a:off x="1664749" y="2980588"/>
            <a:ext cx="2323161" cy="290402"/>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Roboto Medium" pitchFamily="34" charset="0"/>
                <a:ea typeface="Roboto Medium" pitchFamily="34" charset="-122"/>
                <a:cs typeface="Roboto Medium" pitchFamily="34" charset="-120"/>
              </a:rPr>
              <a:t>Edge Inference</a:t>
            </a:r>
            <a:endParaRPr lang="en-US" sz="1800" dirty="0"/>
          </a:p>
        </p:txBody>
      </p:sp>
      <p:sp>
        <p:nvSpPr>
          <p:cNvPr id="7" name="Text 4"/>
          <p:cNvSpPr/>
          <p:nvPr/>
        </p:nvSpPr>
        <p:spPr>
          <a:xfrm>
            <a:off x="1664749" y="1958372"/>
            <a:ext cx="2323161" cy="290402"/>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Roboto Medium" pitchFamily="34" charset="0"/>
                <a:ea typeface="Roboto Medium" pitchFamily="34" charset="-122"/>
                <a:cs typeface="Roboto Medium" pitchFamily="34" charset="-120"/>
              </a:rPr>
              <a:t>Capture</a:t>
            </a:r>
            <a:endParaRPr lang="en-US" sz="1800" dirty="0"/>
          </a:p>
        </p:txBody>
      </p:sp>
      <p:sp>
        <p:nvSpPr>
          <p:cNvPr id="8" name="Text 5"/>
          <p:cNvSpPr/>
          <p:nvPr/>
        </p:nvSpPr>
        <p:spPr>
          <a:xfrm>
            <a:off x="661475" y="6044009"/>
            <a:ext cx="11478330" cy="280095"/>
          </a:xfrm>
          <a:prstGeom prst="rect">
            <a:avLst/>
          </a:prstGeom>
          <a:noFill/>
          <a:ln/>
        </p:spPr>
        <p:txBody>
          <a:bodyPr wrap="none" lIns="0" tIns="0" rIns="0" bIns="0" rtlCol="0" anchor="t"/>
          <a:lstStyle/>
          <a:p>
            <a:pPr algn="l" indent="0" marL="0">
              <a:lnSpc>
                <a:spcPct val="130000"/>
              </a:lnSpc>
              <a:buNone/>
            </a:pPr>
            <a:r>
              <a:rPr lang="en-US" sz="1400" dirty="0">
                <a:solidFill>
                  <a:srgbClr val="CFD0D8"/>
                </a:solidFill>
                <a:latin typeface="Roboto" pitchFamily="34" charset="0"/>
                <a:ea typeface="Roboto" pitchFamily="34" charset="-122"/>
                <a:cs typeface="Roboto" pitchFamily="34" charset="-120"/>
              </a:rPr>
              <a:t>This closed-loop workflow enables sub-minute responsiveness and continuous model retraining with labeled events from the dashboard.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965424"/>
            <a:ext cx="5203794" cy="2927152"/>
          </a:xfrm>
          <a:prstGeom prst="rect">
            <a:avLst/>
          </a:prstGeom>
        </p:spPr>
      </p:pic>
      <p:sp>
        <p:nvSpPr>
          <p:cNvPr id="3" name="Text 0"/>
          <p:cNvSpPr/>
          <p:nvPr/>
        </p:nvSpPr>
        <p:spPr>
          <a:xfrm>
            <a:off x="6332776" y="1146969"/>
            <a:ext cx="5203794" cy="472480"/>
          </a:xfrm>
          <a:prstGeom prst="rect">
            <a:avLst/>
          </a:prstGeom>
          <a:noFill/>
          <a:ln/>
        </p:spPr>
        <p:txBody>
          <a:bodyPr wrap="none" lIns="0" tIns="0" rIns="0" bIns="0" rtlCol="0" anchor="t"/>
          <a:lstStyle/>
          <a:p>
            <a:pPr algn="l" indent="0" marL="0">
              <a:lnSpc>
                <a:spcPct val="104000"/>
              </a:lnSpc>
              <a:buNone/>
            </a:pPr>
            <a:r>
              <a:rPr lang="en-US" sz="2950" dirty="0">
                <a:solidFill>
                  <a:srgbClr val="FFFFFF"/>
                </a:solidFill>
                <a:latin typeface="Roboto Medium" pitchFamily="34" charset="0"/>
                <a:ea typeface="Roboto Medium" pitchFamily="34" charset="-122"/>
                <a:cs typeface="Roboto Medium" pitchFamily="34" charset="-120"/>
              </a:rPr>
              <a:t>Technology Stack</a:t>
            </a:r>
            <a:endParaRPr lang="en-US" sz="2950" dirty="0"/>
          </a:p>
        </p:txBody>
      </p:sp>
      <p:sp>
        <p:nvSpPr>
          <p:cNvPr id="4" name="Text 1"/>
          <p:cNvSpPr/>
          <p:nvPr/>
        </p:nvSpPr>
        <p:spPr>
          <a:xfrm>
            <a:off x="6332776" y="1808460"/>
            <a:ext cx="5203794" cy="4025503"/>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Frontend</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HTML, CSS, JavaScript for operator UI.</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Backend</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Python with Flask or FastAPI for APIs and orchestration.</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AI</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OpenCV, YOLO-family detectors, TensorFlow / PyTorch for model training/inference.</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Database</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MySQL  for telemetry and event logs.</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Hardware</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CCTV cameras, edge devices (Raspberry Pi/industrial NPU), IoT sensors.</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Cloud</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AWS / Azure / GCP for scalable model training and data storage.</a:t>
            </a:r>
            <a:endParaRPr lang="en-US" sz="1450" dirty="0"/>
          </a:p>
          <a:p>
            <a:pPr algn="l" marL="294640" indent="-294640">
              <a:lnSpc>
                <a:spcPct val="133000"/>
              </a:lnSpc>
              <a:buSzPct val="100000"/>
              <a:buChar char="•"/>
            </a:pPr>
            <a:r>
              <a:rPr lang="en-US" sz="1450" b="1" dirty="0">
                <a:solidFill>
                  <a:srgbClr val="CFD0D8"/>
                </a:solidFill>
                <a:latin typeface="Roboto Bold" pitchFamily="34" charset="0"/>
                <a:ea typeface="Roboto Bold" pitchFamily="34" charset="-122"/>
                <a:cs typeface="Roboto Bold" pitchFamily="34" charset="-120"/>
              </a:rPr>
              <a:t>Communication</a:t>
            </a:r>
            <a:pPr algn="l" marL="294640" indent="-294640">
              <a:lnSpc>
                <a:spcPct val="133000"/>
              </a:lnSpc>
              <a:buSzPct val="100000"/>
              <a:buChar char="•"/>
            </a:pPr>
            <a:r>
              <a:rPr lang="en-US" sz="1450" dirty="0">
                <a:solidFill>
                  <a:srgbClr val="CFD0D8"/>
                </a:solidFill>
                <a:latin typeface="Roboto" pitchFamily="34" charset="0"/>
                <a:ea typeface="Roboto" pitchFamily="34" charset="-122"/>
                <a:cs typeface="Roboto" pitchFamily="34" charset="-120"/>
              </a:rPr>
              <a:t>: MQTT / HTTP APIs for reliable command and telemetry exchange.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91158"/>
            <a:ext cx="6296860" cy="531614"/>
          </a:xfrm>
          <a:prstGeom prst="rect">
            <a:avLst/>
          </a:prstGeom>
          <a:noFill/>
          <a:ln/>
        </p:spPr>
        <p:txBody>
          <a:bodyPr wrap="none" lIns="0" tIns="0" rIns="0" bIns="0" rtlCol="0" anchor="t"/>
          <a:lstStyle/>
          <a:p>
            <a:pPr algn="l" indent="0" marL="0">
              <a:lnSpc>
                <a:spcPct val="104000"/>
              </a:lnSpc>
              <a:buNone/>
            </a:pPr>
            <a:r>
              <a:rPr lang="en-US" sz="3300" dirty="0">
                <a:solidFill>
                  <a:srgbClr val="FFFFFF"/>
                </a:solidFill>
                <a:latin typeface="Roboto Medium" pitchFamily="34" charset="0"/>
                <a:ea typeface="Roboto Medium" pitchFamily="34" charset="-122"/>
                <a:cs typeface="Roboto Medium" pitchFamily="34" charset="-120"/>
              </a:rPr>
              <a:t>Expected Results &amp; Impact</a:t>
            </a:r>
            <a:endParaRPr lang="en-US" sz="3300" dirty="0"/>
          </a:p>
        </p:txBody>
      </p:sp>
      <p:sp>
        <p:nvSpPr>
          <p:cNvPr id="4" name="Shape 1"/>
          <p:cNvSpPr/>
          <p:nvPr/>
        </p:nvSpPr>
        <p:spPr>
          <a:xfrm>
            <a:off x="661475" y="1452364"/>
            <a:ext cx="1996827" cy="2268835"/>
          </a:xfrm>
          <a:prstGeom prst="roundRect">
            <a:avLst>
              <a:gd name="adj" fmla="val 3578"/>
            </a:avLst>
          </a:prstGeom>
          <a:solidFill>
            <a:srgbClr val="182567"/>
          </a:solidFill>
          <a:ln w="6350">
            <a:solidFill>
              <a:srgbClr val="313E80"/>
            </a:solidFill>
            <a:prstDash val="solid"/>
          </a:ln>
        </p:spPr>
      </p:sp>
      <p:sp>
        <p:nvSpPr>
          <p:cNvPr id="5" name="Text 2"/>
          <p:cNvSpPr/>
          <p:nvPr/>
        </p:nvSpPr>
        <p:spPr>
          <a:xfrm>
            <a:off x="837881" y="1628775"/>
            <a:ext cx="1644014" cy="531416"/>
          </a:xfrm>
          <a:prstGeom prst="rect">
            <a:avLst/>
          </a:prstGeom>
          <a:noFill/>
          <a:ln/>
        </p:spPr>
        <p:txBody>
          <a:bodyPr wrap="square" lIns="0" tIns="0" rIns="0" bIns="0" rtlCol="0" anchor="t">
            <a:normAutofit/>
          </a:bodyPr>
          <a:lstStyle/>
          <a:p>
            <a:pPr algn="l" indent="0" marL="0">
              <a:lnSpc>
                <a:spcPct val="104000"/>
              </a:lnSpc>
              <a:buNone/>
            </a:pPr>
            <a:r>
              <a:rPr lang="en-US" sz="1650" dirty="0">
                <a:solidFill>
                  <a:srgbClr val="CFD0D8"/>
                </a:solidFill>
                <a:latin typeface="Roboto Medium" pitchFamily="34" charset="0"/>
                <a:ea typeface="Roboto Medium" pitchFamily="34" charset="-122"/>
                <a:cs typeface="Roboto Medium" pitchFamily="34" charset="-120"/>
              </a:rPr>
              <a:t>Operational Benefits</a:t>
            </a:r>
            <a:endParaRPr lang="en-US" sz="1650" dirty="0"/>
          </a:p>
        </p:txBody>
      </p:sp>
      <p:sp>
        <p:nvSpPr>
          <p:cNvPr id="6" name="Text 3"/>
          <p:cNvSpPr/>
          <p:nvPr/>
        </p:nvSpPr>
        <p:spPr>
          <a:xfrm>
            <a:off x="837881" y="2251968"/>
            <a:ext cx="1644014"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FD0D8"/>
                </a:solidFill>
                <a:latin typeface="Roboto" pitchFamily="34" charset="0"/>
                <a:ea typeface="Roboto" pitchFamily="34" charset="-122"/>
                <a:cs typeface="Roboto" pitchFamily="34" charset="-120"/>
              </a:rPr>
              <a:t>Reduced congestion and waiting time; improved intersection throughput.</a:t>
            </a:r>
            <a:endParaRPr lang="en-US" sz="1300" dirty="0"/>
          </a:p>
        </p:txBody>
      </p:sp>
      <p:sp>
        <p:nvSpPr>
          <p:cNvPr id="7" name="Shape 4"/>
          <p:cNvSpPr/>
          <p:nvPr/>
        </p:nvSpPr>
        <p:spPr>
          <a:xfrm>
            <a:off x="2811392" y="1452364"/>
            <a:ext cx="1996926" cy="2268835"/>
          </a:xfrm>
          <a:prstGeom prst="roundRect">
            <a:avLst>
              <a:gd name="adj" fmla="val 3578"/>
            </a:avLst>
          </a:prstGeom>
          <a:solidFill>
            <a:srgbClr val="182567"/>
          </a:solidFill>
          <a:ln w="6350">
            <a:solidFill>
              <a:srgbClr val="313E80"/>
            </a:solidFill>
            <a:prstDash val="solid"/>
          </a:ln>
        </p:spPr>
      </p:sp>
      <p:sp>
        <p:nvSpPr>
          <p:cNvPr id="8" name="Text 5"/>
          <p:cNvSpPr/>
          <p:nvPr/>
        </p:nvSpPr>
        <p:spPr>
          <a:xfrm>
            <a:off x="2987799" y="1628775"/>
            <a:ext cx="1644113" cy="531416"/>
          </a:xfrm>
          <a:prstGeom prst="rect">
            <a:avLst/>
          </a:prstGeom>
          <a:noFill/>
          <a:ln/>
        </p:spPr>
        <p:txBody>
          <a:bodyPr wrap="square" lIns="0" tIns="0" rIns="0" bIns="0" rtlCol="0" anchor="t">
            <a:normAutofit/>
          </a:bodyPr>
          <a:lstStyle/>
          <a:p>
            <a:pPr algn="l" indent="0" marL="0">
              <a:lnSpc>
                <a:spcPct val="104000"/>
              </a:lnSpc>
              <a:buNone/>
            </a:pPr>
            <a:r>
              <a:rPr lang="en-US" sz="1650" dirty="0">
                <a:solidFill>
                  <a:srgbClr val="CFD0D8"/>
                </a:solidFill>
                <a:latin typeface="Roboto Medium" pitchFamily="34" charset="0"/>
                <a:ea typeface="Roboto Medium" pitchFamily="34" charset="-122"/>
                <a:cs typeface="Roboto Medium" pitchFamily="34" charset="-120"/>
              </a:rPr>
              <a:t>Safety &amp; Response</a:t>
            </a:r>
            <a:endParaRPr lang="en-US" sz="1650" dirty="0"/>
          </a:p>
        </p:txBody>
      </p:sp>
      <p:sp>
        <p:nvSpPr>
          <p:cNvPr id="9" name="Text 6"/>
          <p:cNvSpPr/>
          <p:nvPr/>
        </p:nvSpPr>
        <p:spPr>
          <a:xfrm>
            <a:off x="2987799" y="2251968"/>
            <a:ext cx="1644113" cy="1292820"/>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FD0D8"/>
                </a:solidFill>
                <a:latin typeface="Roboto" pitchFamily="34" charset="0"/>
                <a:ea typeface="Roboto" pitchFamily="34" charset="-122"/>
                <a:cs typeface="Roboto" pitchFamily="34" charset="-120"/>
              </a:rPr>
              <a:t>Faster incident detection and reduced emergency response times via priority control.</a:t>
            </a:r>
            <a:endParaRPr lang="en-US" sz="1300" dirty="0"/>
          </a:p>
        </p:txBody>
      </p:sp>
      <p:sp>
        <p:nvSpPr>
          <p:cNvPr id="10" name="Shape 7"/>
          <p:cNvSpPr/>
          <p:nvPr/>
        </p:nvSpPr>
        <p:spPr>
          <a:xfrm>
            <a:off x="4961409" y="1452364"/>
            <a:ext cx="1996827" cy="2268835"/>
          </a:xfrm>
          <a:prstGeom prst="roundRect">
            <a:avLst>
              <a:gd name="adj" fmla="val 3578"/>
            </a:avLst>
          </a:prstGeom>
          <a:solidFill>
            <a:srgbClr val="182567"/>
          </a:solidFill>
          <a:ln w="6350">
            <a:solidFill>
              <a:srgbClr val="313E80"/>
            </a:solidFill>
            <a:prstDash val="solid"/>
          </a:ln>
        </p:spPr>
      </p:sp>
      <p:sp>
        <p:nvSpPr>
          <p:cNvPr id="11" name="Text 8"/>
          <p:cNvSpPr/>
          <p:nvPr/>
        </p:nvSpPr>
        <p:spPr>
          <a:xfrm>
            <a:off x="5137815" y="1628775"/>
            <a:ext cx="1644014" cy="265708"/>
          </a:xfrm>
          <a:prstGeom prst="rect">
            <a:avLst/>
          </a:prstGeom>
          <a:noFill/>
          <a:ln/>
        </p:spPr>
        <p:txBody>
          <a:bodyPr wrap="none" lIns="0" tIns="0" rIns="0" bIns="0" rtlCol="0" anchor="t"/>
          <a:lstStyle/>
          <a:p>
            <a:pPr algn="l" indent="0" marL="0">
              <a:lnSpc>
                <a:spcPct val="104000"/>
              </a:lnSpc>
              <a:buNone/>
            </a:pPr>
            <a:r>
              <a:rPr lang="en-US" sz="1650" dirty="0">
                <a:solidFill>
                  <a:srgbClr val="CFD0D8"/>
                </a:solidFill>
                <a:latin typeface="Roboto Medium" pitchFamily="34" charset="0"/>
                <a:ea typeface="Roboto Medium" pitchFamily="34" charset="-122"/>
                <a:cs typeface="Roboto Medium" pitchFamily="34" charset="-120"/>
              </a:rPr>
              <a:t>Environmental</a:t>
            </a:r>
            <a:endParaRPr lang="en-US" sz="1650" dirty="0"/>
          </a:p>
        </p:txBody>
      </p:sp>
      <p:sp>
        <p:nvSpPr>
          <p:cNvPr id="12" name="Text 9"/>
          <p:cNvSpPr/>
          <p:nvPr/>
        </p:nvSpPr>
        <p:spPr>
          <a:xfrm>
            <a:off x="5137815" y="1986260"/>
            <a:ext cx="1644014" cy="1034256"/>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FD0D8"/>
                </a:solidFill>
                <a:latin typeface="Roboto" pitchFamily="34" charset="0"/>
                <a:ea typeface="Roboto" pitchFamily="34" charset="-122"/>
                <a:cs typeface="Roboto" pitchFamily="34" charset="-120"/>
              </a:rPr>
              <a:t>Lower fuel consumption and emissions through smoother traffic flow.</a:t>
            </a:r>
            <a:endParaRPr lang="en-US" sz="1300" dirty="0"/>
          </a:p>
        </p:txBody>
      </p:sp>
      <p:sp>
        <p:nvSpPr>
          <p:cNvPr id="13" name="Shape 10"/>
          <p:cNvSpPr/>
          <p:nvPr/>
        </p:nvSpPr>
        <p:spPr>
          <a:xfrm>
            <a:off x="661475" y="3874294"/>
            <a:ext cx="6296760" cy="1227435"/>
          </a:xfrm>
          <a:prstGeom prst="roundRect">
            <a:avLst>
              <a:gd name="adj" fmla="val 5821"/>
            </a:avLst>
          </a:prstGeom>
          <a:solidFill>
            <a:srgbClr val="182567"/>
          </a:solidFill>
          <a:ln w="6350">
            <a:solidFill>
              <a:srgbClr val="313E80"/>
            </a:solidFill>
            <a:prstDash val="solid"/>
          </a:ln>
        </p:spPr>
      </p:sp>
      <p:sp>
        <p:nvSpPr>
          <p:cNvPr id="14" name="Text 11"/>
          <p:cNvSpPr/>
          <p:nvPr/>
        </p:nvSpPr>
        <p:spPr>
          <a:xfrm>
            <a:off x="837881" y="4050705"/>
            <a:ext cx="5943947" cy="265708"/>
          </a:xfrm>
          <a:prstGeom prst="rect">
            <a:avLst/>
          </a:prstGeom>
          <a:noFill/>
          <a:ln/>
        </p:spPr>
        <p:txBody>
          <a:bodyPr wrap="none" lIns="0" tIns="0" rIns="0" bIns="0" rtlCol="0" anchor="t"/>
          <a:lstStyle/>
          <a:p>
            <a:pPr algn="l" indent="0" marL="0">
              <a:lnSpc>
                <a:spcPct val="104000"/>
              </a:lnSpc>
              <a:buNone/>
            </a:pPr>
            <a:r>
              <a:rPr lang="en-US" sz="1650" dirty="0">
                <a:solidFill>
                  <a:srgbClr val="CFD0D8"/>
                </a:solidFill>
                <a:latin typeface="Roboto Medium" pitchFamily="34" charset="0"/>
                <a:ea typeface="Roboto Medium" pitchFamily="34" charset="-122"/>
                <a:cs typeface="Roboto Medium" pitchFamily="34" charset="-120"/>
              </a:rPr>
              <a:t>Strategic Value</a:t>
            </a:r>
            <a:endParaRPr lang="en-US" sz="1650" dirty="0"/>
          </a:p>
        </p:txBody>
      </p:sp>
      <p:sp>
        <p:nvSpPr>
          <p:cNvPr id="15" name="Text 12"/>
          <p:cNvSpPr/>
          <p:nvPr/>
        </p:nvSpPr>
        <p:spPr>
          <a:xfrm>
            <a:off x="837881" y="4408190"/>
            <a:ext cx="5943947"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CFD0D8"/>
                </a:solidFill>
                <a:latin typeface="Roboto" pitchFamily="34" charset="0"/>
                <a:ea typeface="Roboto" pitchFamily="34" charset="-122"/>
                <a:cs typeface="Roboto" pitchFamily="34" charset="-120"/>
              </a:rPr>
              <a:t>Data-driven decisions for traffic authorities and scalable integration into smart-city platforms.</a:t>
            </a:r>
            <a:endParaRPr lang="en-US" sz="1300" dirty="0"/>
          </a:p>
        </p:txBody>
      </p:sp>
      <p:sp>
        <p:nvSpPr>
          <p:cNvPr id="16" name="Shape 13"/>
          <p:cNvSpPr/>
          <p:nvPr/>
        </p:nvSpPr>
        <p:spPr>
          <a:xfrm>
            <a:off x="661475" y="5273973"/>
            <a:ext cx="6296860" cy="892870"/>
          </a:xfrm>
          <a:prstGeom prst="roundRect">
            <a:avLst>
              <a:gd name="adj" fmla="val 8002"/>
            </a:avLst>
          </a:prstGeom>
          <a:solidFill>
            <a:srgbClr val="182567"/>
          </a:solidFill>
          <a:ln/>
        </p:spPr>
      </p:sp>
      <p:pic>
        <p:nvPicPr>
          <p:cNvPr id="17" name="Image 1" descr="preencoded.png">    </p:cNvPr>
          <p:cNvPicPr>
            <a:picLocks noChangeAspect="1"/>
          </p:cNvPicPr>
          <p:nvPr/>
        </p:nvPicPr>
        <p:blipFill>
          <a:blip r:embed="rId2"/>
          <a:stretch>
            <a:fillRect/>
          </a:stretch>
        </p:blipFill>
        <p:spPr>
          <a:xfrm>
            <a:off x="831532" y="5492155"/>
            <a:ext cx="212620" cy="170061"/>
          </a:xfrm>
          <a:prstGeom prst="rect">
            <a:avLst/>
          </a:prstGeom>
        </p:spPr>
      </p:pic>
      <p:sp>
        <p:nvSpPr>
          <p:cNvPr id="18" name="Text 14"/>
          <p:cNvSpPr/>
          <p:nvPr/>
        </p:nvSpPr>
        <p:spPr>
          <a:xfrm>
            <a:off x="1214209" y="5469533"/>
            <a:ext cx="5574069"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FFFFFF"/>
                </a:solidFill>
                <a:latin typeface="Roboto" pitchFamily="34" charset="0"/>
                <a:ea typeface="Roboto" pitchFamily="34" charset="-122"/>
                <a:cs typeface="Roboto" pitchFamily="34" charset="-120"/>
              </a:rPr>
              <a:t>Next steps: pilot at 2–3 intersections, measure delays and queue lengths for 30 days, refine RL reward function, and prepare deployment plan.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153319"/>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Transformative Benefits</a:t>
            </a:r>
            <a:endParaRPr lang="en-US" sz="3700" dirty="0"/>
          </a:p>
        </p:txBody>
      </p:sp>
      <p:sp>
        <p:nvSpPr>
          <p:cNvPr id="3" name="Text 1"/>
          <p:cNvSpPr/>
          <p:nvPr/>
        </p:nvSpPr>
        <p:spPr>
          <a:xfrm>
            <a:off x="661475" y="2121991"/>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Our AI-powered system delivers a multifaceted impact, enhancing urban mobility, safety, and environmental sustainability.</a:t>
            </a:r>
            <a:endParaRPr lang="en-US" sz="1450" dirty="0"/>
          </a:p>
        </p:txBody>
      </p:sp>
      <p:sp>
        <p:nvSpPr>
          <p:cNvPr id="4" name="Shape 2"/>
          <p:cNvSpPr/>
          <p:nvPr/>
        </p:nvSpPr>
        <p:spPr>
          <a:xfrm>
            <a:off x="661475" y="2637036"/>
            <a:ext cx="2575357" cy="3067546"/>
          </a:xfrm>
          <a:prstGeom prst="roundRect">
            <a:avLst>
              <a:gd name="adj" fmla="val 3083"/>
            </a:avLst>
          </a:prstGeom>
          <a:solidFill>
            <a:srgbClr val="182567"/>
          </a:solidFill>
          <a:ln w="6350">
            <a:solidFill>
              <a:srgbClr val="313E80"/>
            </a:solidFill>
            <a:prstDash val="solid"/>
          </a:ln>
        </p:spPr>
      </p:sp>
      <p:sp>
        <p:nvSpPr>
          <p:cNvPr id="5" name="Shape 3"/>
          <p:cNvSpPr/>
          <p:nvPr/>
        </p:nvSpPr>
        <p:spPr>
          <a:xfrm>
            <a:off x="856832" y="2832398"/>
            <a:ext cx="567021" cy="567035"/>
          </a:xfrm>
          <a:prstGeom prst="ellipse">
            <a:avLst/>
          </a:prstGeom>
          <a:solidFill>
            <a:srgbClr val="5A6ED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2800" y="2988270"/>
            <a:ext cx="255085" cy="255091"/>
          </a:xfrm>
          <a:prstGeom prst="rect">
            <a:avLst/>
          </a:prstGeom>
        </p:spPr>
      </p:pic>
      <p:sp>
        <p:nvSpPr>
          <p:cNvPr id="7" name="Text 4"/>
          <p:cNvSpPr/>
          <p:nvPr/>
        </p:nvSpPr>
        <p:spPr>
          <a:xfrm>
            <a:off x="856832" y="3588445"/>
            <a:ext cx="2184643"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Optimized Flow</a:t>
            </a:r>
            <a:endParaRPr lang="en-US" sz="1850" dirty="0"/>
          </a:p>
        </p:txBody>
      </p:sp>
      <p:sp>
        <p:nvSpPr>
          <p:cNvPr id="8" name="Text 5"/>
          <p:cNvSpPr/>
          <p:nvPr/>
        </p:nvSpPr>
        <p:spPr>
          <a:xfrm>
            <a:off x="856832" y="3997127"/>
            <a:ext cx="21846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Significantly reduce congestion, travel times, and queue lengths at intersections.</a:t>
            </a:r>
            <a:endParaRPr lang="en-US" sz="1450" dirty="0"/>
          </a:p>
        </p:txBody>
      </p:sp>
      <p:sp>
        <p:nvSpPr>
          <p:cNvPr id="9" name="Shape 6"/>
          <p:cNvSpPr/>
          <p:nvPr/>
        </p:nvSpPr>
        <p:spPr>
          <a:xfrm>
            <a:off x="3425839" y="2637036"/>
            <a:ext cx="2575456" cy="3067546"/>
          </a:xfrm>
          <a:prstGeom prst="roundRect">
            <a:avLst>
              <a:gd name="adj" fmla="val 3082"/>
            </a:avLst>
          </a:prstGeom>
          <a:solidFill>
            <a:srgbClr val="182567"/>
          </a:solidFill>
          <a:ln w="6350">
            <a:solidFill>
              <a:srgbClr val="313E80"/>
            </a:solidFill>
            <a:prstDash val="solid"/>
          </a:ln>
        </p:spPr>
      </p:sp>
      <p:sp>
        <p:nvSpPr>
          <p:cNvPr id="10" name="Shape 7"/>
          <p:cNvSpPr/>
          <p:nvPr/>
        </p:nvSpPr>
        <p:spPr>
          <a:xfrm>
            <a:off x="3621195" y="2832398"/>
            <a:ext cx="567021" cy="567035"/>
          </a:xfrm>
          <a:prstGeom prst="ellipse">
            <a:avLst/>
          </a:prstGeom>
          <a:solidFill>
            <a:srgbClr val="5A6ED8"/>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77163" y="2988270"/>
            <a:ext cx="255085" cy="255091"/>
          </a:xfrm>
          <a:prstGeom prst="rect">
            <a:avLst/>
          </a:prstGeom>
        </p:spPr>
      </p:pic>
      <p:sp>
        <p:nvSpPr>
          <p:cNvPr id="12" name="Text 8"/>
          <p:cNvSpPr/>
          <p:nvPr/>
        </p:nvSpPr>
        <p:spPr>
          <a:xfrm>
            <a:off x="3621195" y="3588445"/>
            <a:ext cx="2184742"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Enhanced Safety</a:t>
            </a:r>
            <a:endParaRPr lang="en-US" sz="1850" dirty="0"/>
          </a:p>
        </p:txBody>
      </p:sp>
      <p:sp>
        <p:nvSpPr>
          <p:cNvPr id="13" name="Text 9"/>
          <p:cNvSpPr/>
          <p:nvPr/>
        </p:nvSpPr>
        <p:spPr>
          <a:xfrm>
            <a:off x="3621195" y="3997127"/>
            <a:ext cx="2184742"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Accelerate incident response and provide priority routing for emergency vehicles.</a:t>
            </a:r>
            <a:endParaRPr lang="en-US" sz="1450" dirty="0"/>
          </a:p>
        </p:txBody>
      </p:sp>
      <p:sp>
        <p:nvSpPr>
          <p:cNvPr id="14" name="Shape 10"/>
          <p:cNvSpPr/>
          <p:nvPr/>
        </p:nvSpPr>
        <p:spPr>
          <a:xfrm>
            <a:off x="6190301" y="2637036"/>
            <a:ext cx="2575456" cy="3067546"/>
          </a:xfrm>
          <a:prstGeom prst="roundRect">
            <a:avLst>
              <a:gd name="adj" fmla="val 3082"/>
            </a:avLst>
          </a:prstGeom>
          <a:solidFill>
            <a:srgbClr val="182567"/>
          </a:solidFill>
          <a:ln w="6350">
            <a:solidFill>
              <a:srgbClr val="313E80"/>
            </a:solidFill>
            <a:prstDash val="solid"/>
          </a:ln>
        </p:spPr>
      </p:sp>
      <p:sp>
        <p:nvSpPr>
          <p:cNvPr id="15" name="Shape 11"/>
          <p:cNvSpPr/>
          <p:nvPr/>
        </p:nvSpPr>
        <p:spPr>
          <a:xfrm>
            <a:off x="6385658" y="2832398"/>
            <a:ext cx="567021" cy="567035"/>
          </a:xfrm>
          <a:prstGeom prst="ellipse">
            <a:avLst/>
          </a:prstGeom>
          <a:solidFill>
            <a:srgbClr val="5A6ED8"/>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41626" y="2988270"/>
            <a:ext cx="255085" cy="255091"/>
          </a:xfrm>
          <a:prstGeom prst="rect">
            <a:avLst/>
          </a:prstGeom>
        </p:spPr>
      </p:pic>
      <p:sp>
        <p:nvSpPr>
          <p:cNvPr id="17" name="Text 12"/>
          <p:cNvSpPr/>
          <p:nvPr/>
        </p:nvSpPr>
        <p:spPr>
          <a:xfrm>
            <a:off x="6385658" y="3588445"/>
            <a:ext cx="2184742"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Greener Cities</a:t>
            </a:r>
            <a:endParaRPr lang="en-US" sz="1850" dirty="0"/>
          </a:p>
        </p:txBody>
      </p:sp>
      <p:sp>
        <p:nvSpPr>
          <p:cNvPr id="18" name="Text 13"/>
          <p:cNvSpPr/>
          <p:nvPr/>
        </p:nvSpPr>
        <p:spPr>
          <a:xfrm>
            <a:off x="6385658" y="3997127"/>
            <a:ext cx="2184742"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Lower fuel consumption and carbon emissions through smoother, more efficient traffic movement.</a:t>
            </a:r>
            <a:endParaRPr lang="en-US" sz="1450" dirty="0"/>
          </a:p>
        </p:txBody>
      </p:sp>
      <p:sp>
        <p:nvSpPr>
          <p:cNvPr id="19" name="Shape 14"/>
          <p:cNvSpPr/>
          <p:nvPr/>
        </p:nvSpPr>
        <p:spPr>
          <a:xfrm>
            <a:off x="8954764" y="2637036"/>
            <a:ext cx="2575456" cy="3067546"/>
          </a:xfrm>
          <a:prstGeom prst="roundRect">
            <a:avLst>
              <a:gd name="adj" fmla="val 3082"/>
            </a:avLst>
          </a:prstGeom>
          <a:solidFill>
            <a:srgbClr val="182567"/>
          </a:solidFill>
          <a:ln w="6350">
            <a:solidFill>
              <a:srgbClr val="313E80"/>
            </a:solidFill>
            <a:prstDash val="solid"/>
          </a:ln>
        </p:spPr>
      </p:sp>
      <p:sp>
        <p:nvSpPr>
          <p:cNvPr id="20" name="Shape 15"/>
          <p:cNvSpPr/>
          <p:nvPr/>
        </p:nvSpPr>
        <p:spPr>
          <a:xfrm>
            <a:off x="9150121" y="2832398"/>
            <a:ext cx="567021" cy="567035"/>
          </a:xfrm>
          <a:prstGeom prst="ellipse">
            <a:avLst/>
          </a:prstGeom>
          <a:solidFill>
            <a:srgbClr val="5A6ED8"/>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06089" y="2988270"/>
            <a:ext cx="255085" cy="255091"/>
          </a:xfrm>
          <a:prstGeom prst="rect">
            <a:avLst/>
          </a:prstGeom>
        </p:spPr>
      </p:pic>
      <p:sp>
        <p:nvSpPr>
          <p:cNvPr id="22" name="Text 16"/>
          <p:cNvSpPr/>
          <p:nvPr/>
        </p:nvSpPr>
        <p:spPr>
          <a:xfrm>
            <a:off x="9150121" y="3588445"/>
            <a:ext cx="2184742"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Data-Driven Decisions</a:t>
            </a:r>
            <a:endParaRPr lang="en-US" sz="1850" dirty="0"/>
          </a:p>
        </p:txBody>
      </p:sp>
      <p:sp>
        <p:nvSpPr>
          <p:cNvPr id="23" name="Text 17"/>
          <p:cNvSpPr/>
          <p:nvPr/>
        </p:nvSpPr>
        <p:spPr>
          <a:xfrm>
            <a:off x="9150121" y="4292402"/>
            <a:ext cx="2184742"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Equip authorities with real-time insights and analytics for strategic urban planning.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624681"/>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Future Scope</a:t>
            </a:r>
            <a:endParaRPr lang="en-US" sz="3700" dirty="0"/>
          </a:p>
        </p:txBody>
      </p:sp>
      <p:sp>
        <p:nvSpPr>
          <p:cNvPr id="3" name="Text 1"/>
          <p:cNvSpPr/>
          <p:nvPr/>
        </p:nvSpPr>
        <p:spPr>
          <a:xfrm>
            <a:off x="661475" y="1593354"/>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Our AI-powered system lays the foundation for continuous innovation, with several key areas targeted for future development and enhancement.</a:t>
            </a:r>
            <a:endParaRPr lang="en-US" sz="1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10817"/>
            <a:ext cx="472468" cy="472480"/>
          </a:xfrm>
          <a:prstGeom prst="rect">
            <a:avLst/>
          </a:prstGeom>
        </p:spPr>
      </p:pic>
      <p:sp>
        <p:nvSpPr>
          <p:cNvPr id="5" name="Text 2"/>
          <p:cNvSpPr/>
          <p:nvPr/>
        </p:nvSpPr>
        <p:spPr>
          <a:xfrm>
            <a:off x="661475" y="3119537"/>
            <a:ext cx="5316206"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V2X Communication</a:t>
            </a:r>
            <a:endParaRPr lang="en-US" sz="1850" dirty="0"/>
          </a:p>
        </p:txBody>
      </p:sp>
      <p:sp>
        <p:nvSpPr>
          <p:cNvPr id="6" name="Text 3"/>
          <p:cNvSpPr/>
          <p:nvPr/>
        </p:nvSpPr>
        <p:spPr>
          <a:xfrm>
            <a:off x="661475" y="3528219"/>
            <a:ext cx="53162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Integrate direct data exchange with connected vehicles (V2X) for advanced coordination and safety warnings.</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3915" y="2410817"/>
            <a:ext cx="472468" cy="472480"/>
          </a:xfrm>
          <a:prstGeom prst="rect">
            <a:avLst/>
          </a:prstGeom>
        </p:spPr>
      </p:pic>
      <p:sp>
        <p:nvSpPr>
          <p:cNvPr id="8" name="Text 4"/>
          <p:cNvSpPr/>
          <p:nvPr/>
        </p:nvSpPr>
        <p:spPr>
          <a:xfrm>
            <a:off x="6213915" y="3119537"/>
            <a:ext cx="5316305"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Autonomous Vehicle Interoperability</a:t>
            </a:r>
            <a:endParaRPr lang="en-US" sz="1850" dirty="0"/>
          </a:p>
        </p:txBody>
      </p:sp>
      <p:sp>
        <p:nvSpPr>
          <p:cNvPr id="9" name="Text 5"/>
          <p:cNvSpPr/>
          <p:nvPr/>
        </p:nvSpPr>
        <p:spPr>
          <a:xfrm>
            <a:off x="6213915" y="3528219"/>
            <a:ext cx="53163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Develop seamless coordination protocols with self-driving fleets to further optimize traffic flow and safety.</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511080"/>
            <a:ext cx="472468" cy="472480"/>
          </a:xfrm>
          <a:prstGeom prst="rect">
            <a:avLst/>
          </a:prstGeom>
        </p:spPr>
      </p:pic>
      <p:sp>
        <p:nvSpPr>
          <p:cNvPr id="11" name="Text 6"/>
          <p:cNvSpPr/>
          <p:nvPr/>
        </p:nvSpPr>
        <p:spPr>
          <a:xfrm>
            <a:off x="661475" y="5219799"/>
            <a:ext cx="5316206"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Predictive Maintenance</a:t>
            </a:r>
            <a:endParaRPr lang="en-US" sz="1850" dirty="0"/>
          </a:p>
        </p:txBody>
      </p:sp>
      <p:sp>
        <p:nvSpPr>
          <p:cNvPr id="12" name="Text 7"/>
          <p:cNvSpPr/>
          <p:nvPr/>
        </p:nvSpPr>
        <p:spPr>
          <a:xfrm>
            <a:off x="661475" y="5628481"/>
            <a:ext cx="53162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Implement AI-driven analysis of traffic infrastructure to anticipate and prevent equipment failures.</a:t>
            </a:r>
            <a:endParaRPr lang="en-US" sz="14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13915" y="4511080"/>
            <a:ext cx="472468" cy="472480"/>
          </a:xfrm>
          <a:prstGeom prst="rect">
            <a:avLst/>
          </a:prstGeom>
        </p:spPr>
      </p:pic>
      <p:sp>
        <p:nvSpPr>
          <p:cNvPr id="14" name="Text 8"/>
          <p:cNvSpPr/>
          <p:nvPr/>
        </p:nvSpPr>
        <p:spPr>
          <a:xfrm>
            <a:off x="6213915" y="5219799"/>
            <a:ext cx="5316305" cy="295275"/>
          </a:xfrm>
          <a:prstGeom prst="rect">
            <a:avLst/>
          </a:prstGeom>
          <a:noFill/>
          <a:ln/>
        </p:spPr>
        <p:txBody>
          <a:bodyPr wrap="none" lIns="0" tIns="0" rIns="0" bIns="0" rtlCol="0" anchor="t"/>
          <a:lstStyle/>
          <a:p>
            <a:pPr algn="l" indent="0" marL="0">
              <a:lnSpc>
                <a:spcPct val="104000"/>
              </a:lnSpc>
              <a:buNone/>
            </a:pPr>
            <a:r>
              <a:rPr lang="en-US" sz="1850" dirty="0">
                <a:solidFill>
                  <a:srgbClr val="CFD0D8"/>
                </a:solidFill>
                <a:latin typeface="Roboto Medium" pitchFamily="34" charset="0"/>
                <a:ea typeface="Roboto Medium" pitchFamily="34" charset="-122"/>
                <a:cs typeface="Roboto Medium" pitchFamily="34" charset="-120"/>
              </a:rPr>
              <a:t>Smart City Integration</a:t>
            </a:r>
            <a:endParaRPr lang="en-US" sz="1850" dirty="0"/>
          </a:p>
        </p:txBody>
      </p:sp>
      <p:sp>
        <p:nvSpPr>
          <p:cNvPr id="15" name="Text 9"/>
          <p:cNvSpPr/>
          <p:nvPr/>
        </p:nvSpPr>
        <p:spPr>
          <a:xfrm>
            <a:off x="6213915" y="5628481"/>
            <a:ext cx="531630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CFD0D8"/>
                </a:solidFill>
                <a:latin typeface="Roboto" pitchFamily="34" charset="0"/>
                <a:ea typeface="Roboto" pitchFamily="34" charset="-122"/>
                <a:cs typeface="Roboto" pitchFamily="34" charset="-120"/>
              </a:rPr>
              <a:t>Expand integration with broader smart city platforms for environmental monitoring and intelligent urban planning.</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624483"/>
            <a:ext cx="10868745" cy="590649"/>
          </a:xfrm>
          <a:prstGeom prst="rect">
            <a:avLst/>
          </a:prstGeom>
          <a:noFill/>
          <a:ln/>
        </p:spPr>
        <p:txBody>
          <a:bodyPr wrap="none" lIns="0" tIns="0" rIns="0" bIns="0" rtlCol="0" anchor="t"/>
          <a:lstStyle/>
          <a:p>
            <a:pPr algn="ctr"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Conclusion</a:t>
            </a:r>
            <a:endParaRPr lang="en-US" sz="3700" dirty="0"/>
          </a:p>
        </p:txBody>
      </p:sp>
      <p:sp>
        <p:nvSpPr>
          <p:cNvPr id="3" name="Text 1"/>
          <p:cNvSpPr/>
          <p:nvPr/>
        </p:nvSpPr>
        <p:spPr>
          <a:xfrm>
            <a:off x="661475" y="1498600"/>
            <a:ext cx="10868745" cy="3544193"/>
          </a:xfrm>
          <a:prstGeom prst="rect">
            <a:avLst/>
          </a:prstGeom>
          <a:noFill/>
          <a:ln/>
        </p:spPr>
        <p:txBody>
          <a:bodyPr wrap="square" lIns="0" tIns="0" rIns="0" bIns="0" rtlCol="0" anchor="t">
            <a:normAutofit/>
          </a:bodyPr>
          <a:lstStyle/>
          <a:p>
            <a:pPr algn="ctr" indent="0" marL="0">
              <a:lnSpc>
                <a:spcPct val="104000"/>
              </a:lnSpc>
              <a:buNone/>
            </a:pPr>
            <a:r>
              <a:rPr lang="en-US" sz="7400" dirty="0">
                <a:solidFill>
                  <a:srgbClr val="FFFFFF"/>
                </a:solidFill>
                <a:latin typeface="Roboto Medium" pitchFamily="34" charset="0"/>
                <a:ea typeface="Roboto Medium" pitchFamily="34" charset="-122"/>
                <a:cs typeface="Roboto Medium" pitchFamily="34" charset="-120"/>
              </a:rPr>
              <a:t>Transforming Urban Mobility for a Smarter Future</a:t>
            </a:r>
            <a:endParaRPr lang="en-US" sz="7400" dirty="0"/>
          </a:p>
        </p:txBody>
      </p:sp>
      <p:sp>
        <p:nvSpPr>
          <p:cNvPr id="4" name="Text 2"/>
          <p:cNvSpPr/>
          <p:nvPr/>
        </p:nvSpPr>
        <p:spPr>
          <a:xfrm>
            <a:off x="661475" y="5326261"/>
            <a:ext cx="10868745" cy="907256"/>
          </a:xfrm>
          <a:prstGeom prst="rect">
            <a:avLst/>
          </a:prstGeom>
          <a:noFill/>
          <a:ln/>
        </p:spPr>
        <p:txBody>
          <a:bodyPr wrap="square" lIns="0" tIns="0" rIns="0" bIns="0" rtlCol="0" anchor="t">
            <a:normAutofit/>
          </a:bodyPr>
          <a:lstStyle/>
          <a:p>
            <a:pPr algn="ctr" indent="0" marL="0">
              <a:lnSpc>
                <a:spcPct val="133000"/>
              </a:lnSpc>
              <a:buNone/>
            </a:pPr>
            <a:r>
              <a:rPr lang="en-US" sz="1450" dirty="0">
                <a:solidFill>
                  <a:srgbClr val="CFD0D8"/>
                </a:solidFill>
                <a:latin typeface="Roboto" pitchFamily="34" charset="0"/>
                <a:ea typeface="Roboto" pitchFamily="34" charset="-122"/>
                <a:cs typeface="Roboto" pitchFamily="34" charset="-120"/>
              </a:rPr>
              <a:t>The AI-Powered Traffic Management System offers a holistic solution to urban congestion, leveraging cutting-edge AI and machine learning to create safer, more efficient, and sustainable cities. By optimizing traffic flow, enhancing emergency response, and providing actionable insights, we are building the foundation for the smart cities of tomorrow.</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810544"/>
            <a:ext cx="10868745" cy="590649"/>
          </a:xfrm>
          <a:prstGeom prst="rect">
            <a:avLst/>
          </a:prstGeom>
          <a:noFill/>
          <a:ln/>
        </p:spPr>
        <p:txBody>
          <a:bodyPr wrap="none" lIns="0" tIns="0" rIns="0" bIns="0" rtlCol="0" anchor="t"/>
          <a:lstStyle/>
          <a:p>
            <a:pPr algn="ctr" indent="0" marL="0">
              <a:lnSpc>
                <a:spcPct val="104000"/>
              </a:lnSpc>
              <a:buNone/>
            </a:pPr>
            <a:r>
              <a:rPr lang="en-US" sz="3700" dirty="0">
                <a:solidFill>
                  <a:srgbClr val="FFFFFF"/>
                </a:solidFill>
                <a:latin typeface="Roboto Medium" pitchFamily="34" charset="0"/>
                <a:ea typeface="Roboto Medium" pitchFamily="34" charset="-122"/>
                <a:cs typeface="Roboto Medium" pitchFamily="34" charset="-120"/>
              </a:rPr>
              <a:t>Thank You</a:t>
            </a:r>
            <a:endParaRPr lang="en-US" sz="3700" dirty="0"/>
          </a:p>
        </p:txBody>
      </p:sp>
      <p:sp>
        <p:nvSpPr>
          <p:cNvPr id="3" name="Text 1"/>
          <p:cNvSpPr/>
          <p:nvPr/>
        </p:nvSpPr>
        <p:spPr>
          <a:xfrm>
            <a:off x="661475" y="2684661"/>
            <a:ext cx="10868745" cy="2362795"/>
          </a:xfrm>
          <a:prstGeom prst="rect">
            <a:avLst/>
          </a:prstGeom>
          <a:noFill/>
          <a:ln/>
        </p:spPr>
        <p:txBody>
          <a:bodyPr wrap="square" lIns="0" tIns="0" rIns="0" bIns="0" rtlCol="0" anchor="t">
            <a:normAutofit/>
          </a:bodyPr>
          <a:lstStyle/>
          <a:p>
            <a:pPr algn="ctr" indent="0" marL="0">
              <a:lnSpc>
                <a:spcPct val="104000"/>
              </a:lnSpc>
              <a:buNone/>
            </a:pPr>
            <a:r>
              <a:rPr lang="en-US" sz="7400" dirty="0">
                <a:solidFill>
                  <a:srgbClr val="FFFFFF"/>
                </a:solidFill>
                <a:latin typeface="Roboto Medium" pitchFamily="34" charset="0"/>
                <a:ea typeface="Roboto Medium" pitchFamily="34" charset="-122"/>
                <a:cs typeface="Roboto Medium" pitchFamily="34" charset="-120"/>
              </a:rPr>
              <a:t>For Your Attention. Questions?</a:t>
            </a:r>
            <a:endParaRPr lang="en-US" sz="7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2026-08-14T18:08:22Z</dcterms:created>
  <dcterms:modified xsi:type="dcterms:W3CDTF">2026-08-14T18:08:22Z</dcterms:modified>
</cp:coreProperties>
</file>